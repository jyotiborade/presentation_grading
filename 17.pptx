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4"/>
  </p:notesMasterIdLst>
  <p:sldIdLst>
    <p:sldId id="276" r:id="rId2"/>
    <p:sldId id="259" r:id="rId3"/>
    <p:sldId id="258" r:id="rId4"/>
    <p:sldId id="262" r:id="rId5"/>
    <p:sldId id="260" r:id="rId6"/>
    <p:sldId id="271" r:id="rId7"/>
    <p:sldId id="268" r:id="rId8"/>
    <p:sldId id="272" r:id="rId9"/>
    <p:sldId id="263" r:id="rId10"/>
    <p:sldId id="274" r:id="rId11"/>
    <p:sldId id="275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C71F7-2E08-4B24-BACB-0EC4325FE0A7}" type="datetimeFigureOut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A83850-6D13-49FF-9565-DD14E9507888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246142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A83850-6D13-49FF-9565-DD14E9507888}" type="slidenum">
              <a:rPr lang="en-IN" smtClean="0"/>
              <a:pPr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706140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C8FA1-26DC-4299-BEB1-8E654CCE329F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6EE2D-813F-4812-BA40-6E3415D01E9D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45A21-25F1-446F-9C1E-8DF519E95B42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F377B-0A6E-4C26-86A2-4247EAC858C8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D20E5-10A3-454E-9927-F96312EDECA6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328C3-3381-4B75-881E-C544C58909DA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8140F-A814-4DCA-AB3D-309E0CF9902C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88BDF5-FE6A-4CF0-B8EA-19A48F8808D3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C2D60-2D51-4E42-BB10-B72C170AAE10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D0C0D57-7AE8-40CD-A21F-11A7DEF5F5FF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37076-EFC3-4E04-A606-C4617DFA5FE7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2E85F-5BD6-44EE-8DDF-3F09DF95939F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252DC6B-72E3-4ED4-BA89-6EB7F4B47118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 smtClean="0"/>
              <a:t>Eye Tracking on Screen Keyboard</a:t>
            </a:r>
            <a:endParaRPr lang="en-IN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0C0D57-7AE8-40CD-A21F-11A7DEF5F5FF}" type="slidenum">
              <a:rPr lang="en-IN" smtClean="0"/>
              <a:pPr/>
              <a:t>‹#›</a:t>
            </a:fld>
            <a:endParaRPr lang="en-IN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" y="0"/>
            <a:ext cx="9144001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0" y="116632"/>
            <a:ext cx="9279042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Eye Tracking on Screen Keyboard</a:t>
            </a:r>
            <a:endParaRPr lang="en-IN" sz="5400" b="1" cap="none" spc="0" dirty="0">
              <a:ln w="11430"/>
              <a:solidFill>
                <a:schemeClr val="bg2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19426" y="2382559"/>
            <a:ext cx="4919103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IN" sz="2000" b="1" cap="none" spc="0" dirty="0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Presented By</a:t>
            </a:r>
          </a:p>
          <a:p>
            <a:pPr algn="ctr"/>
            <a:r>
              <a:rPr lang="en-IN" sz="2000" b="1" cap="none" spc="0" dirty="0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Miss. </a:t>
            </a:r>
            <a:r>
              <a:rPr lang="en-IN" sz="2000" b="1" cap="none" spc="0" dirty="0" err="1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Namrata</a:t>
            </a:r>
            <a:r>
              <a:rPr lang="en-IN" sz="2000" b="1" cap="none" spc="0" dirty="0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IN" sz="2000" b="1" cap="none" spc="0" dirty="0" err="1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Chandrakant</a:t>
            </a:r>
            <a:r>
              <a:rPr lang="en-IN" sz="2000" b="1" cap="none" spc="0" dirty="0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IN" sz="2000" b="1" cap="none" spc="0" dirty="0" err="1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Sonawane</a:t>
            </a:r>
            <a:r>
              <a:rPr lang="en-IN" sz="2000" b="1" cap="none" spc="0" dirty="0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.</a:t>
            </a:r>
          </a:p>
          <a:p>
            <a:pPr algn="ctr"/>
            <a:r>
              <a:rPr lang="en-IN" sz="2000" b="1" cap="none" spc="0" dirty="0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Miss. </a:t>
            </a:r>
            <a:r>
              <a:rPr lang="en-IN" sz="2000" b="1" cap="none" spc="0" dirty="0" err="1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Sarika</a:t>
            </a:r>
            <a:r>
              <a:rPr lang="en-IN" sz="2000" b="1" cap="none" spc="0" dirty="0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IN" sz="2000" b="1" cap="none" spc="0" dirty="0" err="1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Dattaram</a:t>
            </a:r>
            <a:r>
              <a:rPr lang="en-IN" sz="2000" b="1" cap="none" spc="0" dirty="0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IN" sz="2000" b="1" cap="none" spc="0" dirty="0" err="1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Tawate</a:t>
            </a:r>
            <a:endParaRPr lang="en-IN" sz="2000" b="1" cap="none" spc="0" dirty="0">
              <a:ln w="11430"/>
              <a:solidFill>
                <a:schemeClr val="bg2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pPr algn="ctr"/>
            <a:r>
              <a:rPr lang="en-IN" sz="2000" b="1" cap="none" spc="0" dirty="0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Miss. </a:t>
            </a:r>
            <a:r>
              <a:rPr lang="en-IN" sz="2000" b="1" cap="none" spc="0" dirty="0" err="1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Papiha</a:t>
            </a:r>
            <a:r>
              <a:rPr lang="en-IN" sz="2000" b="1" cap="none" spc="0" dirty="0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Sanjay </a:t>
            </a:r>
            <a:r>
              <a:rPr lang="en-IN" sz="2000" b="1" cap="none" spc="0" dirty="0" err="1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Wagh</a:t>
            </a:r>
            <a:endParaRPr lang="en-IN" sz="2000" b="1" cap="none" spc="0" dirty="0">
              <a:ln w="11430"/>
              <a:solidFill>
                <a:schemeClr val="bg2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83394" y="4047728"/>
            <a:ext cx="240488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IN" sz="2000" b="1" cap="none" spc="0" dirty="0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Project Guide: </a:t>
            </a:r>
          </a:p>
          <a:p>
            <a:pPr algn="ctr"/>
            <a:r>
              <a:rPr lang="en-IN" sz="2000" b="1" cap="none" spc="0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Prof</a:t>
            </a:r>
            <a:r>
              <a:rPr lang="en-IN" sz="2000" b="1" cap="none" spc="0" smtClean="0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.  </a:t>
            </a:r>
            <a:r>
              <a:rPr lang="en-IN" sz="2000" b="1" cap="none" spc="0" dirty="0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</a:t>
            </a:r>
            <a:r>
              <a:rPr lang="en-IN" sz="2000" b="1" cap="none" spc="0" dirty="0" smtClean="0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. S. </a:t>
            </a:r>
            <a:r>
              <a:rPr lang="en-IN" sz="2000" b="1" cap="none" spc="0" dirty="0" err="1" smtClean="0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Tathare</a:t>
            </a:r>
            <a:r>
              <a:rPr lang="en-IN" sz="2000" b="1" cap="none" spc="0" dirty="0" smtClean="0">
                <a:ln w="11430"/>
                <a:solidFill>
                  <a:schemeClr val="bg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n-IN" sz="2000" b="1" cap="none" spc="0" dirty="0">
              <a:ln w="11430"/>
              <a:solidFill>
                <a:schemeClr val="bg2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0CD43-B26F-450C-9CA8-8568F433E734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8758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23728" y="260648"/>
            <a:ext cx="38815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5400" b="1" cap="all" dirty="0">
                <a:ln/>
                <a:solidFill>
                  <a:srgbClr val="00B0F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Contents</a:t>
            </a:r>
            <a:endParaRPr lang="en-US" sz="5400" b="1" cap="all" spc="0" dirty="0">
              <a:ln/>
              <a:solidFill>
                <a:srgbClr val="00B0F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619508"/>
            <a:ext cx="914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Introduction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Problem statement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Literature review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Methodology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Result till date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Expected implementation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References</a:t>
            </a:r>
          </a:p>
          <a:p>
            <a:pPr marL="342900" indent="-342900">
              <a:buFont typeface="Wingdings" pitchFamily="2" charset="2"/>
              <a:buChar char="Ø"/>
            </a:pP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>
              <a:buFont typeface="Wingdings" pitchFamily="2" charset="2"/>
              <a:buChar char="Ø"/>
            </a:pP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1CFF-A993-49E4-B2D9-35CF47DAAB94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60840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980728"/>
            <a:ext cx="8373616" cy="54006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 smtClean="0"/>
              <a:t>What is Eye tracking on screen  keyboard?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 smtClean="0"/>
              <a:t>Aim of this project.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 smtClean="0"/>
              <a:t>How can we access through keyboard?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 smtClean="0"/>
              <a:t>What are the facilities it will provide?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 smtClean="0"/>
              <a:t>Working Principles.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5" name="Rectangle 4"/>
          <p:cNvSpPr/>
          <p:nvPr/>
        </p:nvSpPr>
        <p:spPr>
          <a:xfrm>
            <a:off x="1979712" y="188640"/>
            <a:ext cx="44285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IN" sz="54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Introduction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CD9FC-BE79-4CB9-8197-BE1011E1169C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8215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87438" y="260648"/>
            <a:ext cx="606961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marL="457200" indent="-457200" algn="ctr"/>
            <a:r>
              <a:rPr lang="en-IN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Working</a:t>
            </a: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IN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principle</a:t>
            </a:r>
            <a:endParaRPr lang="en-US" sz="5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536" y="14127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40301" y="1565176"/>
            <a:ext cx="8476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2050" name="Picture 2" descr="C:\Users\HP\Desktop\numw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83977"/>
            <a:ext cx="8352928" cy="449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EE880-8C04-4B16-AD8C-C9DB53162D7C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887095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3180" y="1533252"/>
            <a:ext cx="90033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IN" sz="2400" dirty="0"/>
              <a:t>To offer people with extreme disabilities, an opportunity to control a computer  simply by moving his/her </a:t>
            </a:r>
            <a:r>
              <a:rPr lang="en-IN" sz="2400" dirty="0" smtClean="0"/>
              <a:t> eyes.</a:t>
            </a:r>
            <a:endParaRPr lang="en-IN" sz="2400" dirty="0"/>
          </a:p>
          <a:p>
            <a:pPr marL="342900" indent="-342900">
              <a:buFont typeface="Wingdings" pitchFamily="2" charset="2"/>
              <a:buChar char="Ø"/>
            </a:pPr>
            <a:r>
              <a:rPr lang="en-US" sz="2400" dirty="0" smtClean="0"/>
              <a:t> To design </a:t>
            </a:r>
            <a:r>
              <a:rPr lang="en-US" sz="2400" dirty="0"/>
              <a:t>inexpensive and easy-to-use system which solve the communication problem of disabled people </a:t>
            </a:r>
            <a:r>
              <a:rPr lang="en-IN" sz="2400" dirty="0"/>
              <a:t>like who don’t have hands</a:t>
            </a:r>
            <a:r>
              <a:rPr lang="en-US" sz="2400" dirty="0"/>
              <a:t> by writing with their eyes is introduced.</a:t>
            </a:r>
          </a:p>
          <a:p>
            <a:pPr marL="342900" indent="-342900">
              <a:buFont typeface="Wingdings" pitchFamily="2" charset="2"/>
              <a:buChar char="Ø"/>
            </a:pPr>
            <a:endParaRPr lang="en-IN" sz="2400" dirty="0"/>
          </a:p>
        </p:txBody>
      </p:sp>
      <p:sp>
        <p:nvSpPr>
          <p:cNvPr id="5" name="Rectangle 4"/>
          <p:cNvSpPr/>
          <p:nvPr/>
        </p:nvSpPr>
        <p:spPr>
          <a:xfrm>
            <a:off x="2676875" y="548680"/>
            <a:ext cx="3947492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32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Problem Statement</a:t>
            </a:r>
            <a:endParaRPr lang="en-IN" sz="32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A31C0-00D0-4818-B36C-750E28BB8FB6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127101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6484985"/>
              </p:ext>
            </p:extLst>
          </p:nvPr>
        </p:nvGraphicFramePr>
        <p:xfrm>
          <a:off x="179512" y="980728"/>
          <a:ext cx="8712968" cy="5613649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3500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8786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2066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8295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83430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452161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561365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Sr.</a:t>
                      </a:r>
                      <a:r>
                        <a:rPr lang="en-IN" sz="1400" baseline="0" dirty="0" smtClean="0"/>
                        <a:t> </a:t>
                      </a:r>
                      <a:r>
                        <a:rPr lang="en-IN" sz="1400" dirty="0" smtClean="0"/>
                        <a:t>No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Year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Paper</a:t>
                      </a:r>
                      <a:r>
                        <a:rPr lang="en-IN" sz="1400" baseline="0" dirty="0"/>
                        <a:t> Name and Authors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Contents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Technology</a:t>
                      </a:r>
                      <a:r>
                        <a:rPr lang="en-IN" sz="1400" baseline="0" dirty="0"/>
                        <a:t> Used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Remark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10567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itchFamily="18" charset="0"/>
                          <a:cs typeface="Times New Roman" pitchFamily="18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2008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Eye controlled virtual keyboard</a:t>
                      </a:r>
                      <a:r>
                        <a:rPr lang="en-IN" sz="1400" baseline="0" dirty="0"/>
                        <a:t> using a new co-ordinate transformation of long and narrow region.</a:t>
                      </a:r>
                    </a:p>
                    <a:p>
                      <a:r>
                        <a:rPr lang="en-IN" sz="1400" baseline="0" dirty="0"/>
                        <a:t>(chern-sheng Lin, Yun-Lang Lay)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In this paper</a:t>
                      </a:r>
                      <a:r>
                        <a:rPr lang="en-IN" sz="1400" baseline="0" dirty="0"/>
                        <a:t> development of an eye tracking and virtual keyboard control system using a PC camera is presented.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In this the infrared CCD camera was employed</a:t>
                      </a:r>
                      <a:r>
                        <a:rPr lang="en-IN" sz="1400" baseline="0" dirty="0"/>
                        <a:t> to capture images of eye movement &amp; to record the changes of  relative position of a glint &amp; the center of  cornea with dynamic tracking technique.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In this</a:t>
                      </a:r>
                      <a:r>
                        <a:rPr lang="en-IN" sz="1400" baseline="0" dirty="0"/>
                        <a:t> paper we have some idea about keyboard &amp; also got information about  CCD camera.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641717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itchFamily="18" charset="0"/>
                          <a:cs typeface="Times New Roman" pitchFamily="18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2011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4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Designing a Virtual Keyboard with Multi-Modal Access for People with Disabilities </a:t>
                      </a:r>
                      <a:r>
                        <a:rPr kumimoji="0" lang="en-IN" sz="1400" b="0" u="none" strike="noStrike" kern="1200" baseline="0" dirty="0" smtClean="0"/>
                        <a:t>Intelligent </a:t>
                      </a:r>
                      <a:r>
                        <a:rPr kumimoji="0" lang="en-IN" sz="1400" u="none" strike="noStrike" kern="1200" baseline="0" dirty="0"/>
                        <a:t>Systems Research Centre (ISRC)</a:t>
                      </a:r>
                    </a:p>
                    <a:p>
                      <a:r>
                        <a:rPr kumimoji="0" lang="en-IN" sz="1400" u="none" strike="noStrike" kern="1200" baseline="0" dirty="0"/>
                        <a:t>University of Ulster, Magee Campus, Derry,</a:t>
                      </a:r>
                    </a:p>
                    <a:p>
                      <a:r>
                        <a:rPr kumimoji="0" lang="en-IN" sz="1400" u="none" strike="noStrike" kern="1200" baseline="0" dirty="0"/>
                        <a:t>N. Ireland, </a:t>
                      </a:r>
                      <a:r>
                        <a:rPr kumimoji="0" lang="en-IN" sz="1400" u="none" strike="noStrike" kern="1200" baseline="0" dirty="0" smtClean="0"/>
                        <a:t>UK</a:t>
                      </a:r>
                    </a:p>
                    <a:p>
                      <a:r>
                        <a:rPr kumimoji="0" lang="en-IN" sz="1400" u="none" strike="noStrike" kern="12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Vijit Prabhu &amp; Girijesh Prasad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400" u="none" strike="noStrike" kern="1200" baseline="0" dirty="0"/>
                        <a:t>This paper present a virtual keyboard</a:t>
                      </a:r>
                    </a:p>
                    <a:p>
                      <a:r>
                        <a:rPr kumimoji="0" lang="en-IN" sz="1400" u="none" strike="noStrike" kern="1200" baseline="0" dirty="0"/>
                        <a:t>that can support multiple modes of access and has an optimum</a:t>
                      </a:r>
                    </a:p>
                    <a:p>
                      <a:r>
                        <a:rPr kumimoji="0" lang="en-IN" sz="1400" u="none" strike="noStrike" kern="1200" baseline="0" dirty="0"/>
                        <a:t>layout based on the frequency of occurrence of alphabet in</a:t>
                      </a:r>
                    </a:p>
                    <a:p>
                      <a:r>
                        <a:rPr kumimoji="0" lang="en-IN" sz="1400" u="none" strike="noStrike" kern="1200" baseline="0" dirty="0"/>
                        <a:t>English text. </a:t>
                      </a:r>
                      <a:endParaRPr lang="en-IN" sz="14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400" u="none" strike="noStrike" kern="1200" baseline="0" dirty="0"/>
                        <a:t>For operating a Virtual Keyboard using access switches or BCI,</a:t>
                      </a:r>
                    </a:p>
                    <a:p>
                      <a:r>
                        <a:rPr kumimoji="0" lang="en-IN" sz="1400" u="none" strike="noStrike" kern="1200" baseline="0" dirty="0"/>
                        <a:t>scanning is used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In this paper we have learnt how to access keyboard with scanning system.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C75E866-EEF7-4873-BC2A-C2009F0776F1}"/>
              </a:ext>
            </a:extLst>
          </p:cNvPr>
          <p:cNvSpPr/>
          <p:nvPr/>
        </p:nvSpPr>
        <p:spPr>
          <a:xfrm>
            <a:off x="1691680" y="139040"/>
            <a:ext cx="496855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</a:rPr>
              <a:t>Literature review</a:t>
            </a:r>
            <a:endParaRPr lang="en-IN" sz="4400" b="1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8F351-FD3D-4DA3-BDD2-1208FDA6D063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460648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504" y="1484784"/>
            <a:ext cx="8928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951985186"/>
              </p:ext>
            </p:extLst>
          </p:nvPr>
        </p:nvGraphicFramePr>
        <p:xfrm>
          <a:off x="359532" y="980728"/>
          <a:ext cx="8424936" cy="5517305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144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0973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853865">
                <a:tc>
                  <a:txBody>
                    <a:bodyPr/>
                    <a:lstStyle/>
                    <a:p>
                      <a:r>
                        <a:rPr lang="en-IN" sz="1400" dirty="0"/>
                        <a:t>Sr. No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Year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Paper</a:t>
                      </a:r>
                      <a:r>
                        <a:rPr lang="en-IN" sz="1400" baseline="0" dirty="0"/>
                        <a:t> </a:t>
                      </a:r>
                      <a:r>
                        <a:rPr lang="en-IN" sz="1400" dirty="0"/>
                        <a:t>Name and Author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   Concept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Technology Used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Remark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2017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Implementation</a:t>
                      </a:r>
                      <a:r>
                        <a:rPr lang="en-IN" sz="1400" baseline="0" dirty="0"/>
                        <a:t> of Eye Gaze Tracking Technique on FPGA-based On-screen Keyboard System Using Verilog and MATLAB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Eye tracking can be defined into software</a:t>
                      </a:r>
                      <a:r>
                        <a:rPr lang="en-IN" sz="1400" baseline="0" dirty="0"/>
                        <a:t> and hardware based. A dedicated  hardware is used  for eye gaze detection and has been implemented on an FPGA.    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Field Programmable Gate</a:t>
                      </a:r>
                      <a:r>
                        <a:rPr lang="en-IN" sz="1400" baseline="0" dirty="0"/>
                        <a:t> Array(FPGA)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We</a:t>
                      </a:r>
                      <a:r>
                        <a:rPr lang="en-IN" sz="1400" baseline="0" dirty="0"/>
                        <a:t> have understood hardware &amp; software requirements.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2017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Eye Tracking</a:t>
                      </a:r>
                      <a:r>
                        <a:rPr lang="en-IN" sz="1400" baseline="0" dirty="0"/>
                        <a:t> Based Control System For Natural Human Computer  Interaction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aseline="0" dirty="0"/>
                        <a:t>(</a:t>
                      </a:r>
                      <a:r>
                        <a:rPr lang="en-IN" sz="1400" dirty="0"/>
                        <a:t>Shyan-Ming</a:t>
                      </a:r>
                      <a:r>
                        <a:rPr lang="en-IN" sz="1400" baseline="0" dirty="0"/>
                        <a:t> Yuan &amp; Shu-fan-Lin)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In this project eye</a:t>
                      </a:r>
                      <a:r>
                        <a:rPr lang="en-IN" sz="1400" baseline="0" dirty="0"/>
                        <a:t> tracking measures the eyeball position and determines gaze direction of person and the movements of the eye can be tracked using diff. technology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1.Infrared Oculography</a:t>
                      </a:r>
                    </a:p>
                    <a:p>
                      <a:r>
                        <a:rPr lang="en-IN" sz="1400" dirty="0"/>
                        <a:t>2.Scheral Search Coil method</a:t>
                      </a:r>
                    </a:p>
                    <a:p>
                      <a:r>
                        <a:rPr lang="en-IN" sz="1400" dirty="0"/>
                        <a:t>3.Electro</a:t>
                      </a:r>
                      <a:r>
                        <a:rPr lang="en-IN" sz="1400" baseline="0" dirty="0"/>
                        <a:t> O</a:t>
                      </a:r>
                      <a:r>
                        <a:rPr lang="en-IN" sz="1400" dirty="0"/>
                        <a:t>culography</a:t>
                      </a:r>
                    </a:p>
                    <a:p>
                      <a:r>
                        <a:rPr lang="en-IN" sz="1400" dirty="0"/>
                        <a:t>4.Video Oculography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We get information about Eyeboll position, movements which will required for implemantation of our project.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4970-D2D0-4F21-ADB4-956B9FFBDF16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833694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14543425"/>
              </p:ext>
            </p:extLst>
          </p:nvPr>
        </p:nvGraphicFramePr>
        <p:xfrm>
          <a:off x="179512" y="1052736"/>
          <a:ext cx="8496944" cy="238347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7484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8559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2383472">
                <a:tc>
                  <a:txBody>
                    <a:bodyPr/>
                    <a:lstStyle/>
                    <a:p>
                      <a:r>
                        <a:rPr lang="en-IN" sz="1400" b="0" dirty="0"/>
                        <a:t>5.</a:t>
                      </a:r>
                      <a:endParaRPr lang="en-IN" sz="14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2019</a:t>
                      </a:r>
                      <a:endParaRPr lang="en-IN" sz="14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400" b="0" u="none" strike="noStrike" kern="1200" baseline="0" dirty="0"/>
                        <a:t>Computer Information Systems</a:t>
                      </a:r>
                    </a:p>
                    <a:p>
                      <a:r>
                        <a:rPr kumimoji="0" lang="en-IN" sz="1400" b="0" u="none" strike="noStrike" kern="1200" baseline="0" dirty="0"/>
                        <a:t>University of Alaska Anchorage</a:t>
                      </a:r>
                    </a:p>
                    <a:p>
                      <a:r>
                        <a:rPr kumimoji="0" lang="en-IN" sz="1400" b="0" u="none" strike="noStrike" kern="1200" baseline="0" dirty="0"/>
                        <a:t>Anchorage, AK, USA</a:t>
                      </a:r>
                      <a:endParaRPr kumimoji="0" lang="en-IN" sz="14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N" sz="1400" b="0" u="none" strike="noStrike" kern="1200" baseline="0" dirty="0"/>
                        <a:t>This paper</a:t>
                      </a:r>
                    </a:p>
                    <a:p>
                      <a:r>
                        <a:rPr kumimoji="0" lang="en-IN" sz="1400" b="0" u="none" strike="noStrike" kern="1200" baseline="0" dirty="0"/>
                        <a:t>describe the EyeDent system—in which users authenticate by</a:t>
                      </a:r>
                    </a:p>
                    <a:p>
                      <a:r>
                        <a:rPr kumimoji="0" lang="en-IN" sz="1400" b="0" u="none" strike="noStrike" kern="1200" baseline="0" dirty="0"/>
                        <a:t>looking at the symbols on an on-screen keyboard to enter their</a:t>
                      </a:r>
                    </a:p>
                    <a:p>
                      <a:r>
                        <a:rPr kumimoji="0" lang="en-IN" sz="1400" b="0" u="none" strike="noStrike" kern="1200" baseline="0" dirty="0"/>
                        <a:t>password.</a:t>
                      </a:r>
                      <a:endParaRPr lang="en-IN" sz="14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In this paper</a:t>
                      </a:r>
                      <a:r>
                        <a:rPr lang="en-IN" sz="1400" b="0" baseline="0" dirty="0"/>
                        <a:t>  EyeDent device is used .</a:t>
                      </a:r>
                      <a:endParaRPr lang="en-IN" sz="14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We got</a:t>
                      </a:r>
                      <a:r>
                        <a:rPr lang="en-IN" sz="1400" b="0" baseline="0" dirty="0"/>
                        <a:t> information about EyeDent device which is used for  face detection &amp; will useful for security system in our project.</a:t>
                      </a:r>
                      <a:endParaRPr lang="en-IN" sz="1400" b="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88936209"/>
              </p:ext>
            </p:extLst>
          </p:nvPr>
        </p:nvGraphicFramePr>
        <p:xfrm>
          <a:off x="179512" y="332656"/>
          <a:ext cx="8496944" cy="7200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7484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8559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r>
                        <a:rPr lang="en-IN" sz="1400" dirty="0"/>
                        <a:t>Sr.No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Year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Paper</a:t>
                      </a:r>
                      <a:r>
                        <a:rPr lang="en-IN" sz="1400" baseline="0" dirty="0"/>
                        <a:t> Name and Authors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Contents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Technology</a:t>
                      </a:r>
                      <a:r>
                        <a:rPr lang="en-IN" sz="1400" baseline="0" dirty="0"/>
                        <a:t> Used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Remark</a:t>
                      </a:r>
                      <a:endParaRPr lang="en-IN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357E7-F83E-4B32-8C1F-3162CD3B29BF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810556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9278" y="188640"/>
            <a:ext cx="45496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71800" y="1267420"/>
            <a:ext cx="3672408" cy="3247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Image capturing and processing</a:t>
            </a:r>
          </a:p>
        </p:txBody>
      </p:sp>
      <p:sp>
        <p:nvSpPr>
          <p:cNvPr id="4" name="Down Arrow 3"/>
          <p:cNvSpPr/>
          <p:nvPr/>
        </p:nvSpPr>
        <p:spPr>
          <a:xfrm>
            <a:off x="4447309" y="1567166"/>
            <a:ext cx="138546" cy="3586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2749651" y="1925781"/>
            <a:ext cx="3672408" cy="3247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Face 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71800" y="2609102"/>
            <a:ext cx="3672408" cy="3247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Eye detection</a:t>
            </a:r>
          </a:p>
        </p:txBody>
      </p:sp>
      <p:sp>
        <p:nvSpPr>
          <p:cNvPr id="9" name="Down Arrow 8"/>
          <p:cNvSpPr/>
          <p:nvPr/>
        </p:nvSpPr>
        <p:spPr>
          <a:xfrm>
            <a:off x="4424098" y="2250487"/>
            <a:ext cx="190833" cy="3586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421185" y="2771455"/>
            <a:ext cx="0" cy="60535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990925" y="3376807"/>
            <a:ext cx="69127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 rot="10800000" flipV="1">
            <a:off x="251518" y="3751222"/>
            <a:ext cx="1977306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Gaze detection</a:t>
            </a:r>
          </a:p>
        </p:txBody>
      </p:sp>
      <p:sp>
        <p:nvSpPr>
          <p:cNvPr id="19" name="Rectangle 18"/>
          <p:cNvSpPr/>
          <p:nvPr/>
        </p:nvSpPr>
        <p:spPr>
          <a:xfrm rot="10800000" flipV="1">
            <a:off x="3187651" y="3742616"/>
            <a:ext cx="2232249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Eye tracking</a:t>
            </a:r>
          </a:p>
        </p:txBody>
      </p:sp>
      <p:sp>
        <p:nvSpPr>
          <p:cNvPr id="20" name="Rectangle 19"/>
          <p:cNvSpPr/>
          <p:nvPr/>
        </p:nvSpPr>
        <p:spPr>
          <a:xfrm rot="10800000" flipV="1">
            <a:off x="6422059" y="3751223"/>
            <a:ext cx="2016224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Blink detection</a:t>
            </a:r>
          </a:p>
        </p:txBody>
      </p:sp>
      <p:sp>
        <p:nvSpPr>
          <p:cNvPr id="21" name="Rectangle 20"/>
          <p:cNvSpPr/>
          <p:nvPr/>
        </p:nvSpPr>
        <p:spPr>
          <a:xfrm rot="10800000" flipV="1">
            <a:off x="251518" y="5949280"/>
            <a:ext cx="2160241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Keyboard</a:t>
            </a:r>
          </a:p>
        </p:txBody>
      </p:sp>
      <p:sp>
        <p:nvSpPr>
          <p:cNvPr id="22" name="Rectangle 21"/>
          <p:cNvSpPr/>
          <p:nvPr/>
        </p:nvSpPr>
        <p:spPr>
          <a:xfrm rot="10800000" flipV="1">
            <a:off x="3094597" y="5951569"/>
            <a:ext cx="2653175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Cursor movement</a:t>
            </a:r>
          </a:p>
        </p:txBody>
      </p:sp>
      <p:sp>
        <p:nvSpPr>
          <p:cNvPr id="23" name="Rectangle 22"/>
          <p:cNvSpPr/>
          <p:nvPr/>
        </p:nvSpPr>
        <p:spPr>
          <a:xfrm rot="10800000" flipV="1">
            <a:off x="6352784" y="5949280"/>
            <a:ext cx="2539696" cy="3600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Clicking event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980003" y="3384001"/>
            <a:ext cx="190833" cy="3586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Down Arrow 24"/>
          <p:cNvSpPr/>
          <p:nvPr/>
        </p:nvSpPr>
        <p:spPr>
          <a:xfrm>
            <a:off x="4342536" y="3392607"/>
            <a:ext cx="190833" cy="3586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Down Arrow 25"/>
          <p:cNvSpPr/>
          <p:nvPr/>
        </p:nvSpPr>
        <p:spPr>
          <a:xfrm>
            <a:off x="7903692" y="3376807"/>
            <a:ext cx="190833" cy="3586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Down Arrow 26"/>
          <p:cNvSpPr/>
          <p:nvPr/>
        </p:nvSpPr>
        <p:spPr>
          <a:xfrm>
            <a:off x="990925" y="4116512"/>
            <a:ext cx="190833" cy="18327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Down Arrow 28"/>
          <p:cNvSpPr/>
          <p:nvPr/>
        </p:nvSpPr>
        <p:spPr>
          <a:xfrm>
            <a:off x="4328681" y="4118801"/>
            <a:ext cx="190833" cy="18327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Down Arrow 29"/>
          <p:cNvSpPr/>
          <p:nvPr/>
        </p:nvSpPr>
        <p:spPr>
          <a:xfrm>
            <a:off x="7903692" y="4118801"/>
            <a:ext cx="190833" cy="18327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423F2-C182-4DDA-A288-3BFCB043AE0F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32" name="Footer Placeholder 3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24466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9F26AA-9BDC-4854-BAFA-5B45B3D48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39816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IN" dirty="0" smtClean="0"/>
              <a:t>We have read IEEE research papers related with our project. </a:t>
            </a:r>
          </a:p>
          <a:p>
            <a:pPr>
              <a:buFont typeface="Wingdings" pitchFamily="2" charset="2"/>
              <a:buChar char="Ø"/>
            </a:pPr>
            <a:r>
              <a:rPr lang="en-IN" dirty="0" smtClean="0"/>
              <a:t>We have an idea about what will be hardware and software required. </a:t>
            </a:r>
          </a:p>
          <a:p>
            <a:pPr>
              <a:buFont typeface="Wingdings" pitchFamily="2" charset="2"/>
              <a:buChar char="Ø"/>
            </a:pPr>
            <a:r>
              <a:rPr lang="en-IN" dirty="0" smtClean="0"/>
              <a:t>Also we got some knowledge about python language which will useful to implement our project.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929386" y="332656"/>
            <a:ext cx="52352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IN" sz="54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Result Till Date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2B1B0-5766-426E-9FFB-9C4C01C7BA01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291308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B8A1061-7F17-473E-BF6A-6D9CF6935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IN" dirty="0" smtClean="0"/>
              <a:t>Detail study of feature extraction along with implementation.</a:t>
            </a:r>
          </a:p>
          <a:p>
            <a:pPr>
              <a:buFont typeface="Wingdings" pitchFamily="2" charset="2"/>
              <a:buChar char="Ø"/>
            </a:pPr>
            <a:r>
              <a:rPr lang="en-IN" dirty="0" smtClean="0"/>
              <a:t>Completion  of designing of Virtual keyboard.</a:t>
            </a:r>
          </a:p>
          <a:p>
            <a:pPr>
              <a:buFont typeface="Wingdings" pitchFamily="2" charset="2"/>
              <a:buChar char="Ø"/>
            </a:pPr>
            <a:r>
              <a:rPr lang="en-IN" dirty="0" smtClean="0"/>
              <a:t>Detail study of image processing algorithm.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12248" y="633462"/>
            <a:ext cx="87195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IN" sz="54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Expected Implementation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CB73E-1A19-47C8-8774-F2C4CEC78405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561684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1760" y="260648"/>
            <a:ext cx="37615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9512" y="1183978"/>
            <a:ext cx="896448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IN" sz="2400" i="1" dirty="0">
                <a:ea typeface="PMingLiU-ExtB" pitchFamily="18" charset="-120"/>
                <a:cs typeface="Times New Roman" pitchFamily="18" charset="0"/>
              </a:rPr>
              <a:t>Implementation of Eye Gaze Tracking Technique on FPGA-based On-screen Keyboard System Using Verilog and MATLAB.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IN" sz="2400" i="1" dirty="0">
                <a:ea typeface="PMingLiU-ExtB" pitchFamily="18" charset="-120"/>
                <a:cs typeface="Times New Roman" pitchFamily="18" charset="0"/>
              </a:rPr>
              <a:t>Eye Tracking Based Control System For Natural Human Computer  Interaction</a:t>
            </a:r>
          </a:p>
          <a:p>
            <a:pPr>
              <a:defRPr/>
            </a:pPr>
            <a:r>
              <a:rPr lang="en-IN" sz="2400" i="1" dirty="0">
                <a:ea typeface="PMingLiU-ExtB" pitchFamily="18" charset="-120"/>
                <a:cs typeface="Times New Roman" pitchFamily="18" charset="0"/>
              </a:rPr>
              <a:t>    (Shyan-Ming Yuan &amp; Shu-fan-Lin).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IN" sz="2400" i="1" dirty="0">
                <a:ea typeface="PMingLiU-ExtB" pitchFamily="18" charset="-120"/>
                <a:cs typeface="Times New Roman" pitchFamily="18" charset="0"/>
              </a:rPr>
              <a:t>Eye controlled virtual keyboard using a new co-ordinate transformation of long and narrow region.</a:t>
            </a:r>
          </a:p>
          <a:p>
            <a:r>
              <a:rPr lang="en-IN" sz="2400" i="1" dirty="0">
                <a:ea typeface="PMingLiU-ExtB" pitchFamily="18" charset="-120"/>
                <a:cs typeface="Times New Roman" pitchFamily="18" charset="0"/>
              </a:rPr>
              <a:t>    (chern-sheng Lin, Yun-Lang Lay)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IN" sz="2400" i="1" dirty="0"/>
              <a:t>Intelligent Systems Research Centre (ISRC)University of Ulster, Magee Campus, Derry, N. Ireland, UK.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IN" sz="2400" i="1" dirty="0"/>
              <a:t>Computer Information Systems University of Alaska Anchorage</a:t>
            </a:r>
          </a:p>
          <a:p>
            <a:r>
              <a:rPr lang="en-IN" sz="2400" i="1" dirty="0"/>
              <a:t>      Anchorage, AK, USA.</a:t>
            </a:r>
          </a:p>
          <a:p>
            <a:pPr marL="342900" indent="-342900">
              <a:buFont typeface="Wingdings" pitchFamily="2" charset="2"/>
              <a:buChar char="q"/>
            </a:pPr>
            <a:endParaRPr lang="en-IN" sz="2400" i="1" dirty="0"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q"/>
            </a:pPr>
            <a:endParaRPr lang="en-IN" sz="2400" i="1" dirty="0"/>
          </a:p>
          <a:p>
            <a:pPr marL="342900" indent="-342900">
              <a:buFont typeface="Wingdings" pitchFamily="2" charset="2"/>
              <a:buChar char="q"/>
              <a:defRPr/>
            </a:pPr>
            <a:endParaRPr lang="en-IN" sz="2400" i="1" dirty="0">
              <a:ea typeface="PMingLiU-ExtB" pitchFamily="18" charset="-120"/>
              <a:cs typeface="Times New Roman" pitchFamily="18" charset="0"/>
            </a:endParaRPr>
          </a:p>
          <a:p>
            <a:pPr>
              <a:defRPr/>
            </a:pPr>
            <a:endParaRPr lang="en-IN" sz="2400" i="1" dirty="0">
              <a:ea typeface="PMingLiU-ExtB" pitchFamily="18" charset="-12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q"/>
            </a:pPr>
            <a:endParaRPr lang="en-IN" sz="2400" i="1" dirty="0">
              <a:ea typeface="PMingLiU-ExtB" pitchFamily="18" charset="-120"/>
              <a:cs typeface="Times New Roman" pitchFamily="18" charset="0"/>
            </a:endParaRPr>
          </a:p>
          <a:p>
            <a:pPr marL="285750" indent="-285750">
              <a:buFont typeface="Wingdings" pitchFamily="2" charset="2"/>
              <a:buChar char="q"/>
            </a:pPr>
            <a:endParaRPr lang="en-IN" sz="2400" i="1" dirty="0">
              <a:ea typeface="PMingLiU-ExtB" pitchFamily="18" charset="-12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0A21-BE61-4691-8005-0DD8C9D8F4F7}" type="datetime1">
              <a:rPr lang="en-IN" smtClean="0"/>
              <a:pPr/>
              <a:t>24-12-2020</a:t>
            </a:fld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C0D57-7AE8-40CD-A21F-11A7DEF5F5FF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Eye Tracking on Screen Keyboard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1626658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952</TotalTime>
  <Words>824</Words>
  <Application>Microsoft Office PowerPoint</Application>
  <PresentationFormat>On-screen Show (4:3)</PresentationFormat>
  <Paragraphs>159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Flow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Eye Tracking on-Screen keyboard</dc:title>
  <dc:creator>Windows User</dc:creator>
  <cp:lastModifiedBy>DELL</cp:lastModifiedBy>
  <cp:revision>95</cp:revision>
  <dcterms:created xsi:type="dcterms:W3CDTF">2020-03-14T09:56:28Z</dcterms:created>
  <dcterms:modified xsi:type="dcterms:W3CDTF">2020-12-23T18:55:54Z</dcterms:modified>
</cp:coreProperties>
</file>